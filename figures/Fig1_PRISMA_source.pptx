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8412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92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 rot="16200000">
            <a:off x="-553212" y="1028700"/>
            <a:ext cx="1874519" cy="457200"/>
          </a:xfrm>
          <a:prstGeom prst="round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Identification</a:t>
            </a:r>
          </a:p>
        </p:txBody>
      </p:sp>
      <p:sp>
        <p:nvSpPr>
          <p:cNvPr id="3" name="Rounded Rectangle 2"/>
          <p:cNvSpPr/>
          <p:nvPr/>
        </p:nvSpPr>
        <p:spPr>
          <a:xfrm rot="16200000">
            <a:off x="-781812" y="3268979"/>
            <a:ext cx="2331720" cy="457200"/>
          </a:xfrm>
          <a:prstGeom prst="round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Screening</a:t>
            </a:r>
          </a:p>
        </p:txBody>
      </p:sp>
      <p:sp>
        <p:nvSpPr>
          <p:cNvPr id="4" name="Rounded Rectangle 3"/>
          <p:cNvSpPr/>
          <p:nvPr/>
        </p:nvSpPr>
        <p:spPr>
          <a:xfrm rot="16200000">
            <a:off x="-713232" y="5669280"/>
            <a:ext cx="2194560" cy="457200"/>
          </a:xfrm>
          <a:prstGeom prst="round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Eligibility</a:t>
            </a:r>
          </a:p>
        </p:txBody>
      </p:sp>
      <p:sp>
        <p:nvSpPr>
          <p:cNvPr id="5" name="Rounded Rectangle 4"/>
          <p:cNvSpPr/>
          <p:nvPr/>
        </p:nvSpPr>
        <p:spPr>
          <a:xfrm rot="16200000">
            <a:off x="-118872" y="7406640"/>
            <a:ext cx="1005840" cy="457200"/>
          </a:xfrm>
          <a:prstGeom prst="round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200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Articles identified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through PubMed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200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Articles identified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through Embase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3200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Articles identified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through IEEE Xplore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384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200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Articles identified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through CINAHL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3200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Articles identified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through ERIC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1188720"/>
            <a:ext cx="0" cy="13716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46120" y="1188720"/>
            <a:ext cx="0" cy="13716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1188720"/>
            <a:ext cx="0" cy="13716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1188720"/>
            <a:ext cx="0" cy="13716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1188720"/>
            <a:ext cx="0" cy="13716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45920" y="1325880"/>
            <a:ext cx="640080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91840" y="1325880"/>
            <a:ext cx="0" cy="27432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148840" y="160020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1050" b="0" i="0">
                <a:solidFill>
                  <a:srgbClr val="1A1A1A"/>
                </a:solidFill>
                <a:latin typeface="Arial"/>
              </a:rPr>
              <a:t>Total records identified</a:t>
            </a:r>
          </a:p>
          <a:p>
            <a:pPr algn="ctr"/>
            <a:r>
              <a:rPr sz="1050" b="0" i="1">
                <a:solidFill>
                  <a:srgbClr val="1A1A1A"/>
                </a:solidFill>
                <a:latin typeface="Arial"/>
              </a:rPr>
              <a:t>n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= 518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74320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1050" b="0" i="0">
                <a:solidFill>
                  <a:srgbClr val="1A1A1A"/>
                </a:solidFill>
                <a:latin typeface="Arial"/>
              </a:rPr>
              <a:t>Records screened</a:t>
            </a:r>
          </a:p>
          <a:p>
            <a:pPr algn="ctr"/>
            <a:r>
              <a:rPr sz="1050" b="0" i="1">
                <a:solidFill>
                  <a:srgbClr val="1A1A1A"/>
                </a:solidFill>
                <a:latin typeface="Arial"/>
              </a:rPr>
              <a:t>n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= 470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88620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Journal research articles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screened by title and abstract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170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521208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Reports sought for retrieval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635508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Full-text reports assessed</a:t>
            </a:r>
          </a:p>
          <a:p>
            <a:pPr algn="ctr"/>
            <a:r>
              <a:rPr sz="950" b="0" i="0">
                <a:solidFill>
                  <a:srgbClr val="1A1A1A"/>
                </a:solidFill>
                <a:latin typeface="Arial"/>
              </a:rPr>
              <a:t>for eligibility</a:t>
            </a:r>
          </a:p>
          <a:p>
            <a:pPr algn="ctr"/>
            <a:r>
              <a:rPr sz="950" b="0" i="1">
                <a:solidFill>
                  <a:srgbClr val="1A1A1A"/>
                </a:solidFill>
                <a:latin typeface="Arial"/>
              </a:rPr>
              <a:t>n</a:t>
            </a:r>
            <a:r>
              <a:rPr sz="950" b="0" i="0">
                <a:solidFill>
                  <a:srgbClr val="1A1A1A"/>
                </a:solidFill>
                <a:latin typeface="Arial"/>
              </a:rPr>
              <a:t> = 46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7498079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ctr"/>
            <a:r>
              <a:rPr sz="1050" b="0" i="0" dirty="0">
                <a:solidFill>
                  <a:srgbClr val="1A1A1A"/>
                </a:solidFill>
                <a:latin typeface="Arial"/>
              </a:rPr>
              <a:t>Studies included in review</a:t>
            </a:r>
          </a:p>
          <a:p>
            <a:pPr algn="ctr"/>
            <a:r>
              <a:rPr sz="1050" b="0" i="1" dirty="0">
                <a:solidFill>
                  <a:srgbClr val="1A1A1A"/>
                </a:solidFill>
                <a:latin typeface="Arial"/>
              </a:rPr>
              <a:t>n</a:t>
            </a:r>
            <a:r>
              <a:rPr sz="1050" b="0" i="0" dirty="0">
                <a:solidFill>
                  <a:srgbClr val="1A1A1A"/>
                </a:solidFill>
                <a:latin typeface="Arial"/>
              </a:rPr>
              <a:t> = 3</a:t>
            </a:r>
            <a:r>
              <a:rPr lang="en-US" sz="1050" b="0" i="0" dirty="0">
                <a:solidFill>
                  <a:srgbClr val="1A1A1A"/>
                </a:solidFill>
                <a:latin typeface="Arial"/>
              </a:rPr>
              <a:t>3</a:t>
            </a:r>
            <a:endParaRPr sz="1050" b="0" i="0" dirty="0">
              <a:solidFill>
                <a:srgbClr val="1A1A1A"/>
              </a:solidFill>
              <a:latin typeface="Arial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291840" y="2194560"/>
            <a:ext cx="0" cy="54864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91840" y="3337560"/>
            <a:ext cx="0" cy="54864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91840" y="4663440"/>
            <a:ext cx="0" cy="54864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91840" y="5806440"/>
            <a:ext cx="0" cy="54864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91840" y="6995160"/>
            <a:ext cx="0" cy="502919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937760" y="2217420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Duplicates removed</a:t>
            </a:r>
          </a:p>
          <a:p>
            <a:pPr algn="l"/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063240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Records excluded: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300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   •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280  Conference papers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   •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14   Reviews / Meta-analyses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   •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6    Other (surveys, forum)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464058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Records excluded: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123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   •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123  Not related to the review topic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578358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Reports not retrieved: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1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   •  </a:t>
            </a:r>
            <a:r>
              <a:rPr sz="1000" b="0" i="1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= 1  Full text not retrievable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6789420"/>
            <a:ext cx="410328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54864" bIns="18288" rtlCol="0" anchor="ctr"/>
          <a:lstStyle/>
          <a:p>
            <a:pPr algn="l"/>
            <a:r>
              <a:rPr sz="1000" b="0" i="0" dirty="0">
                <a:solidFill>
                  <a:srgbClr val="1A1A1A"/>
                </a:solidFill>
                <a:latin typeface="Arial"/>
              </a:rPr>
              <a:t>Records excluded:  </a:t>
            </a:r>
            <a:r>
              <a:rPr sz="1000" b="0" i="1" dirty="0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 dirty="0">
                <a:solidFill>
                  <a:srgbClr val="1A1A1A"/>
                </a:solidFill>
                <a:latin typeface="Arial"/>
              </a:rPr>
              <a:t> = 1</a:t>
            </a:r>
            <a:r>
              <a:rPr lang="en-US" sz="1000" b="0" i="0" dirty="0">
                <a:solidFill>
                  <a:srgbClr val="1A1A1A"/>
                </a:solidFill>
                <a:latin typeface="Arial"/>
              </a:rPr>
              <a:t>3</a:t>
            </a:r>
            <a:endParaRPr sz="1000" b="0" i="0" dirty="0">
              <a:solidFill>
                <a:srgbClr val="1A1A1A"/>
              </a:solidFill>
              <a:latin typeface="Arial"/>
            </a:endParaRPr>
          </a:p>
          <a:p>
            <a:pPr algn="l"/>
            <a:r>
              <a:rPr sz="1000" b="0" i="0" dirty="0">
                <a:solidFill>
                  <a:srgbClr val="1A1A1A"/>
                </a:solidFill>
                <a:latin typeface="Arial"/>
              </a:rPr>
              <a:t>   •  </a:t>
            </a:r>
            <a:r>
              <a:rPr sz="1000" b="0" i="1" dirty="0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 dirty="0">
                <a:solidFill>
                  <a:srgbClr val="1A1A1A"/>
                </a:solidFill>
                <a:latin typeface="Arial"/>
              </a:rPr>
              <a:t> = 8  Dataset / data-descriptor papers</a:t>
            </a:r>
          </a:p>
          <a:p>
            <a:pPr algn="l"/>
            <a:r>
              <a:rPr sz="1000" b="0" i="0" dirty="0">
                <a:solidFill>
                  <a:srgbClr val="1A1A1A"/>
                </a:solidFill>
                <a:latin typeface="Arial"/>
              </a:rPr>
              <a:t>   •  </a:t>
            </a:r>
            <a:r>
              <a:rPr sz="1000" b="0" i="1" dirty="0">
                <a:solidFill>
                  <a:srgbClr val="1A1A1A"/>
                </a:solidFill>
                <a:latin typeface="Arial"/>
              </a:rPr>
              <a:t>n</a:t>
            </a:r>
            <a:r>
              <a:rPr sz="1000" b="0" i="0" dirty="0">
                <a:solidFill>
                  <a:srgbClr val="1A1A1A"/>
                </a:solidFill>
                <a:latin typeface="Arial"/>
              </a:rPr>
              <a:t> = 2  No emotion-recognition results</a:t>
            </a:r>
            <a:endParaRPr lang="en-US" sz="1000" b="0" i="0" dirty="0">
              <a:solidFill>
                <a:srgbClr val="1A1A1A"/>
              </a:solidFill>
              <a:latin typeface="Arial"/>
            </a:endParaRPr>
          </a:p>
          <a:p>
            <a:r>
              <a:rPr lang="en-US" sz="1000" dirty="0">
                <a:solidFill>
                  <a:srgbClr val="1A1A1A"/>
                </a:solidFill>
                <a:latin typeface="Arial"/>
              </a:rPr>
              <a:t>   •  </a:t>
            </a:r>
            <a:r>
              <a:rPr lang="en-US" sz="1000" i="1" dirty="0">
                <a:solidFill>
                  <a:srgbClr val="1A1A1A"/>
                </a:solidFill>
                <a:latin typeface="Arial"/>
              </a:rPr>
              <a:t>n</a:t>
            </a:r>
            <a:r>
              <a:rPr lang="en-US" sz="1000" dirty="0">
                <a:solidFill>
                  <a:srgbClr val="1A1A1A"/>
                </a:solidFill>
                <a:latin typeface="Arial"/>
              </a:rPr>
              <a:t> = 1  audio-visual study with no physiological signal</a:t>
            </a:r>
            <a:endParaRPr sz="1000" b="0" i="0" dirty="0">
              <a:solidFill>
                <a:srgbClr val="1A1A1A"/>
              </a:solidFill>
              <a:latin typeface="Arial"/>
            </a:endParaRPr>
          </a:p>
          <a:p>
            <a:r>
              <a:rPr lang="en-US" sz="1000" dirty="0">
                <a:solidFill>
                  <a:srgbClr val="1A1A1A"/>
                </a:solidFill>
                <a:latin typeface="Arial"/>
              </a:rPr>
              <a:t>   •  </a:t>
            </a:r>
            <a:r>
              <a:rPr lang="en-US" sz="1000" i="1" dirty="0">
                <a:solidFill>
                  <a:srgbClr val="1A1A1A"/>
                </a:solidFill>
                <a:latin typeface="Arial"/>
              </a:rPr>
              <a:t>n</a:t>
            </a:r>
            <a:r>
              <a:rPr lang="en-US" sz="1000" dirty="0">
                <a:solidFill>
                  <a:srgbClr val="1A1A1A"/>
                </a:solidFill>
                <a:latin typeface="Arial"/>
              </a:rPr>
              <a:t> = 2  ECG-only studies without two distinct sensing modalities</a:t>
            </a:r>
            <a:endParaRPr sz="1000" b="0" i="0" dirty="0">
              <a:solidFill>
                <a:srgbClr val="1A1A1A"/>
              </a:solidFill>
              <a:latin typeface="Arial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3291840" y="2468880"/>
            <a:ext cx="164592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291840" y="3611880"/>
            <a:ext cx="164592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291840" y="4937760"/>
            <a:ext cx="164592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91840" y="6080760"/>
            <a:ext cx="164592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291840" y="7246620"/>
            <a:ext cx="164592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190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Azza Elkhalifa</dc:creator>
  <cp:keywords/>
  <dc:description/>
  <cp:lastModifiedBy>Azza Elkhalifa</cp:lastModifiedBy>
  <cp:revision>5</cp:revision>
  <dcterms:created xsi:type="dcterms:W3CDTF">2013-01-27T09:14:16Z</dcterms:created>
  <dcterms:modified xsi:type="dcterms:W3CDTF">2026-08-18T19:32:48Z</dcterms:modified>
  <cp:category/>
</cp:coreProperties>
</file>